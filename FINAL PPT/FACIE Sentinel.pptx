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JetBrains Mono"/>
      <p:regular r:id="rId16"/>
    </p:embeddedFont>
    <p:embeddedFont>
      <p:font typeface="Space Grotesk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aciesentinel-fx6x.vercel.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vKum06/FACIE_SENTINEL" TargetMode="External"/><Relationship Id="rId2" Type="http://schemas.openxmlformats.org/officeDocument/2006/relationships/hyperlink" Target="https://faciesentinel-fx6x.vercel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198" y="172428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2506" y="1043014"/>
            <a:ext cx="278698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38BDF8"/>
                </a:solidFill>
                <a:latin typeface="JetBrains Mono"/>
              </a:rPr>
              <a:t>ADAPTIVE AI-POWERED API SECURITY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7063" y="348218"/>
            <a:ext cx="3797873" cy="67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Space Grotesk"/>
              </a:rPr>
              <a:t>FACIE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6723" y="1417654"/>
            <a:ext cx="363855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94A3B8"/>
                </a:solidFill>
                <a:latin typeface="Space Grotesk"/>
              </a:rPr>
              <a:t>Detect. Analyze. Score. Adapt. Respond.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B68B4-AB2B-EA33-D0C8-58ED53E6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8" y="1884627"/>
            <a:ext cx="9144000" cy="4627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44760"/>
            <a:ext cx="38957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Modern APIs face constant automated and behavioral threats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F5D02E-E567-D931-AA49-59DC66E3E576}"/>
              </a:ext>
            </a:extLst>
          </p:cNvPr>
          <p:cNvGrpSpPr/>
          <p:nvPr/>
        </p:nvGrpSpPr>
        <p:grpSpPr>
          <a:xfrm>
            <a:off x="609599" y="4101226"/>
            <a:ext cx="5343525" cy="2299574"/>
            <a:chOff x="609600" y="4101226"/>
            <a:chExt cx="3276600" cy="2299574"/>
          </a:xfrm>
        </p:grpSpPr>
        <p:sp>
          <p:nvSpPr>
            <p:cNvPr id="3" name="Rounded Rectangle 2"/>
            <p:cNvSpPr/>
            <p:nvPr/>
          </p:nvSpPr>
          <p:spPr>
            <a:xfrm>
              <a:off x="609600" y="4101226"/>
              <a:ext cx="3276600" cy="2299574"/>
            </a:xfrm>
            <a:prstGeom prst="roundRect">
              <a:avLst>
                <a:gd name="adj" fmla="val 3101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9734" y="4357327"/>
              <a:ext cx="1823799" cy="2226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991B1B"/>
                  </a:solidFill>
                  <a:latin typeface="Space Grotesk"/>
                </a:rPr>
                <a:t>The Static Rule Limit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2608" y="4622893"/>
              <a:ext cx="2750583" cy="126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sz="1350" b="0" i="0" u="none" dirty="0">
                  <a:solidFill>
                    <a:srgbClr val="7F1D1D"/>
                  </a:solidFill>
                  <a:latin typeface="Space Grotesk"/>
                </a:rPr>
                <a:t>Traditional systems rely purely on static signatures. Individual requests look legitimate in isolation but form malicious behavioral patterns over time.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89734" y="5929856"/>
              <a:ext cx="2796442" cy="4154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991B1B"/>
                  </a:solidFill>
                  <a:latin typeface="Space Grotesk"/>
                </a:rPr>
                <a:t>Organizations need contextual risk assessment.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BCBA39-CB0E-205E-C44C-0A58EBD25E5A}"/>
              </a:ext>
            </a:extLst>
          </p:cNvPr>
          <p:cNvGrpSpPr/>
          <p:nvPr/>
        </p:nvGrpSpPr>
        <p:grpSpPr>
          <a:xfrm>
            <a:off x="609600" y="1367730"/>
            <a:ext cx="5343524" cy="2486026"/>
            <a:chOff x="609600" y="2686050"/>
            <a:chExt cx="3276600" cy="2486026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2686050"/>
              <a:ext cx="3276600" cy="2486026"/>
            </a:xfrm>
            <a:prstGeom prst="roundRect">
              <a:avLst>
                <a:gd name="adj" fmla="val 3101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025" y="3558480"/>
              <a:ext cx="171450" cy="180975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025" y="3891855"/>
              <a:ext cx="171450" cy="180975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025" y="4225230"/>
              <a:ext cx="171450" cy="180975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025" y="4558605"/>
              <a:ext cx="171450" cy="18097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962025" y="3134617"/>
              <a:ext cx="2724151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0F172A"/>
                  </a:solidFill>
                  <a:latin typeface="Space Grotesk"/>
                </a:rPr>
                <a:t>Attack Vectors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2025" y="3534668"/>
              <a:ext cx="2724151" cy="207749"/>
            </a:xfrm>
            <a:prstGeom prst="rect">
              <a:avLst/>
            </a:prstGeom>
            <a:noFill/>
          </p:spPr>
          <p:txBody>
            <a:bodyPr wrap="square" lIns="28575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EF4444"/>
                  </a:solidFill>
                  <a:latin typeface="Space Grotesk"/>
                </a:rPr>
                <a:t>SQL &amp; Command Injection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2025" y="3868042"/>
              <a:ext cx="2724151" cy="207749"/>
            </a:xfrm>
            <a:prstGeom prst="rect">
              <a:avLst/>
            </a:prstGeom>
            <a:noFill/>
          </p:spPr>
          <p:txBody>
            <a:bodyPr wrap="square" lIns="28575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EF4444"/>
                  </a:solidFill>
                  <a:latin typeface="Space Grotesk"/>
                </a:rPr>
                <a:t>Brute-force &amp; Rate Abuse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2026" y="4201417"/>
              <a:ext cx="2724150" cy="207749"/>
            </a:xfrm>
            <a:prstGeom prst="rect">
              <a:avLst/>
            </a:prstGeom>
            <a:noFill/>
          </p:spPr>
          <p:txBody>
            <a:bodyPr wrap="square" lIns="28575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EF4444"/>
                  </a:solidFill>
                  <a:latin typeface="Space Grotesk"/>
                </a:rPr>
                <a:t>BOLA / IDOR &amp; Enumeration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2026" y="4534792"/>
              <a:ext cx="2724150" cy="207749"/>
            </a:xfrm>
            <a:prstGeom prst="rect">
              <a:avLst/>
            </a:prstGeom>
            <a:noFill/>
          </p:spPr>
          <p:txBody>
            <a:bodyPr wrap="square" lIns="28575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EF4444"/>
                  </a:solidFill>
                  <a:latin typeface="Space Grotesk"/>
                </a:rPr>
                <a:t>Mass Assignment &amp; Anomalies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52A1BAA-15DE-E096-2598-FB0373F4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81" y="437731"/>
            <a:ext cx="3625786" cy="5963069"/>
          </a:xfrm>
          <a:prstGeom prst="rect">
            <a:avLst/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B216C649-007A-4EDA-062F-4DA9253E504C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8917"/>
            <a:ext cx="2250281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517106" y="3248917"/>
            <a:ext cx="2250281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24612" y="3248917"/>
            <a:ext cx="2250281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2118" y="3248917"/>
            <a:ext cx="2250281" cy="1390650"/>
          </a:xfrm>
          <a:prstGeom prst="roundRect">
            <a:avLst>
              <a:gd name="adj" fmla="val 821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340" y="348704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481" y="382518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846" y="3487042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987" y="382518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353" y="3487042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493" y="382518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3909" y="3487042"/>
            <a:ext cx="2667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Our Solution: FACIE 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447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Grotesk"/>
              </a:rPr>
              <a:t>Intelligent security layer sitting between clients and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32" y="3906142"/>
            <a:ext cx="23284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Space Grotesk"/>
              </a:rPr>
              <a:t>API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71" y="4201417"/>
            <a:ext cx="22175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Space Grotesk"/>
              </a:rPr>
              <a:t>Incoming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8038" y="3906142"/>
            <a:ext cx="23284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Space Grotesk"/>
              </a:rPr>
              <a:t>Threat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3477" y="4201417"/>
            <a:ext cx="22175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Space Grotesk"/>
              </a:rPr>
              <a:t>Rule &amp; ML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7153" y="3906142"/>
            <a:ext cx="144520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350" b="1" i="0" u="none" dirty="0">
                <a:solidFill>
                  <a:srgbClr val="0F172A"/>
                </a:solidFill>
                <a:latin typeface="Space Grotesk"/>
              </a:rPr>
              <a:t>Incident Description</a:t>
            </a:r>
            <a:endParaRPr sz="135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80374" y="4201417"/>
            <a:ext cx="13387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200" b="0" i="0" u="none" dirty="0">
                <a:solidFill>
                  <a:srgbClr val="64748B"/>
                </a:solidFill>
                <a:latin typeface="Space Grotesk"/>
              </a:rPr>
              <a:t>Overall Idea of Attack</a:t>
            </a:r>
            <a:endParaRPr sz="1200" b="0" i="0" u="none" dirty="0">
              <a:solidFill>
                <a:srgbClr val="64748B"/>
              </a:solidFill>
              <a:latin typeface="Space Grotesk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93051" y="3906142"/>
            <a:ext cx="23284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  <a:latin typeface="Space Grotesk"/>
              </a:rPr>
              <a:t>Adaptive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8489" y="4201417"/>
            <a:ext cx="22175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Space Grotesk"/>
              </a:rPr>
              <a:t>ALLOW | BLOCK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8E9500EC-8F4F-8F2F-ACB3-6C1AEC07044D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What Makes FACIE Sentinel Different?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C5273F-1C76-0974-7FF5-0BCBA4132BC3}"/>
              </a:ext>
            </a:extLst>
          </p:cNvPr>
          <p:cNvGrpSpPr/>
          <p:nvPr/>
        </p:nvGrpSpPr>
        <p:grpSpPr>
          <a:xfrm>
            <a:off x="609600" y="1297259"/>
            <a:ext cx="2571750" cy="1371600"/>
            <a:chOff x="609600" y="3063180"/>
            <a:chExt cx="2571750" cy="1371600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3063180"/>
              <a:ext cx="2571750" cy="1371600"/>
            </a:xfrm>
            <a:prstGeom prst="roundRect">
              <a:avLst>
                <a:gd name="adj" fmla="val 8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47726" y="3301305"/>
              <a:ext cx="2190750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284C7"/>
                  </a:solidFill>
                  <a:latin typeface="Space Grotesk"/>
                </a:rPr>
                <a:t>Hybrid Detection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47725" y="3596580"/>
              <a:ext cx="2190750" cy="600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>
                  <a:solidFill>
                    <a:srgbClr val="334155"/>
                  </a:solidFill>
                  <a:latin typeface="Space Grotesk"/>
                </a:rPr>
                <a:t>Combines rule-based signatures with ML anomaly detection.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FB17EB-35B3-BF6F-5E29-FEA5E1B04026}"/>
              </a:ext>
            </a:extLst>
          </p:cNvPr>
          <p:cNvGrpSpPr/>
          <p:nvPr/>
        </p:nvGrpSpPr>
        <p:grpSpPr>
          <a:xfrm>
            <a:off x="3409950" y="1280070"/>
            <a:ext cx="2571750" cy="1371600"/>
            <a:chOff x="3409950" y="3063180"/>
            <a:chExt cx="2571750" cy="1371600"/>
          </a:xfrm>
        </p:grpSpPr>
        <p:sp>
          <p:nvSpPr>
            <p:cNvPr id="3" name="Rounded Rectangle 2"/>
            <p:cNvSpPr/>
            <p:nvPr/>
          </p:nvSpPr>
          <p:spPr>
            <a:xfrm>
              <a:off x="3409950" y="3063180"/>
              <a:ext cx="2571750" cy="1371600"/>
            </a:xfrm>
            <a:prstGeom prst="roundRect">
              <a:avLst>
                <a:gd name="adj" fmla="val 8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8075" y="3287910"/>
              <a:ext cx="1445204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sz="1350" b="1" i="0" u="none" dirty="0">
                  <a:solidFill>
                    <a:srgbClr val="0F172A"/>
                  </a:solidFill>
                  <a:latin typeface="Space Grotesk"/>
                </a:rPr>
                <a:t>Incident Description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48075" y="3596580"/>
              <a:ext cx="2190750" cy="553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200" b="0" i="0" u="none" dirty="0">
                  <a:solidFill>
                    <a:srgbClr val="334155"/>
                  </a:solidFill>
                  <a:latin typeface="Space Grotesk"/>
                </a:rPr>
                <a:t>Synthesizes multiple security signals i</a:t>
              </a:r>
              <a:r>
                <a:rPr lang="en-US" sz="1200" b="0" i="0" u="none" dirty="0">
                  <a:solidFill>
                    <a:srgbClr val="334155"/>
                  </a:solidFill>
                  <a:latin typeface="Space Grotesk"/>
                </a:rPr>
                <a:t>nto o</a:t>
              </a:r>
              <a:r>
                <a:rPr lang="en-US" sz="1200" b="0" i="0" u="none" dirty="0">
                  <a:solidFill>
                    <a:srgbClr val="64748B"/>
                  </a:solidFill>
                  <a:latin typeface="Space Grotesk"/>
                </a:rPr>
                <a:t>verall Idea of attack</a:t>
              </a:r>
            </a:p>
            <a:p>
              <a:pPr algn="l"/>
              <a:r>
                <a:rPr sz="1200" b="0" i="0" u="none" dirty="0">
                  <a:solidFill>
                    <a:srgbClr val="334155"/>
                  </a:solidFill>
                  <a:latin typeface="Space Grotesk"/>
                </a:rPr>
                <a:t>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D37939-B013-6E64-C0D2-6D383537567E}"/>
              </a:ext>
            </a:extLst>
          </p:cNvPr>
          <p:cNvGrpSpPr/>
          <p:nvPr/>
        </p:nvGrpSpPr>
        <p:grpSpPr>
          <a:xfrm>
            <a:off x="6219825" y="1280070"/>
            <a:ext cx="2571750" cy="1371600"/>
            <a:chOff x="6210300" y="3063180"/>
            <a:chExt cx="2571750" cy="1371600"/>
          </a:xfrm>
        </p:grpSpPr>
        <p:sp>
          <p:nvSpPr>
            <p:cNvPr id="4" name="Rounded Rectangle 3"/>
            <p:cNvSpPr/>
            <p:nvPr/>
          </p:nvSpPr>
          <p:spPr>
            <a:xfrm>
              <a:off x="6210300" y="3063180"/>
              <a:ext cx="2571750" cy="1371600"/>
            </a:xfrm>
            <a:prstGeom prst="roundRect">
              <a:avLst>
                <a:gd name="adj" fmla="val 8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48426" y="3301306"/>
              <a:ext cx="2190750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284C7"/>
                  </a:solidFill>
                  <a:latin typeface="Space Grotesk"/>
                </a:rPr>
                <a:t>Adaptive Response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48425" y="3596580"/>
              <a:ext cx="2190750" cy="600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>
                  <a:solidFill>
                    <a:srgbClr val="334155"/>
                  </a:solidFill>
                  <a:latin typeface="Space Grotesk"/>
                </a:rPr>
                <a:t>Dynamic tiering: Allow, Monitor, Rate Limit, Review, Block.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C59C2D-DF16-2937-8B7B-3830B96FB93E}"/>
              </a:ext>
            </a:extLst>
          </p:cNvPr>
          <p:cNvGrpSpPr/>
          <p:nvPr/>
        </p:nvGrpSpPr>
        <p:grpSpPr>
          <a:xfrm>
            <a:off x="9010652" y="1280070"/>
            <a:ext cx="2571750" cy="1371600"/>
            <a:chOff x="9105900" y="3063180"/>
            <a:chExt cx="2571750" cy="1371600"/>
          </a:xfrm>
        </p:grpSpPr>
        <p:sp>
          <p:nvSpPr>
            <p:cNvPr id="15" name="Rounded Rectangle 3">
              <a:extLst>
                <a:ext uri="{FF2B5EF4-FFF2-40B4-BE49-F238E27FC236}">
                  <a16:creationId xmlns:a16="http://schemas.microsoft.com/office/drawing/2014/main" id="{B44FC9AE-F900-1264-2780-04989CF7F4EB}"/>
                </a:ext>
              </a:extLst>
            </p:cNvPr>
            <p:cNvSpPr/>
            <p:nvPr/>
          </p:nvSpPr>
          <p:spPr>
            <a:xfrm>
              <a:off x="9105900" y="3063180"/>
              <a:ext cx="2571750" cy="1371600"/>
            </a:xfrm>
            <a:prstGeom prst="roundRect">
              <a:avLst>
                <a:gd name="adj" fmla="val 8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48775" y="3301304"/>
              <a:ext cx="2314573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284C7"/>
                  </a:solidFill>
                  <a:latin typeface="Space Grotesk"/>
                </a:rPr>
                <a:t>Explainable Decisions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248775" y="3597472"/>
              <a:ext cx="219075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 dirty="0">
                  <a:solidFill>
                    <a:srgbClr val="334155"/>
                  </a:solidFill>
                  <a:latin typeface="Space Grotesk"/>
                </a:rPr>
                <a:t>Traces risk factors directly to policy outcomes.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1D4E0DB-A77C-A516-71A8-1EFA834F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172" y="3185070"/>
            <a:ext cx="4787655" cy="3063329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A422CFA8-31F9-ACBF-DFC8-AC0D44A3BF8A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0" y="2371873"/>
            <a:ext cx="5638800" cy="2754213"/>
          </a:xfrm>
          <a:prstGeom prst="roundRect">
            <a:avLst>
              <a:gd name="adj" fmla="val 5533"/>
            </a:avLst>
          </a:prstGeom>
          <a:solidFill>
            <a:srgbClr val="09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29780"/>
            <a:ext cx="50292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67955"/>
            <a:ext cx="50292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806130"/>
            <a:ext cx="50292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44305"/>
            <a:ext cx="50292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2676673"/>
            <a:ext cx="5943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System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114823"/>
            <a:ext cx="5124450" cy="1706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Frontend Dashboard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    ↓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JetBrains Mono"/>
              </a:rPr>
              <a:t>FastAPI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Gateway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    ↓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[ Detection → ML Anomaly → Risk Engine → Policy ]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    ↓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JetBrains Mono"/>
              </a:rPr>
              <a:t> SQLite Logging &amp;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91705"/>
            <a:ext cx="18573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Space Grotesk"/>
              </a:rPr>
              <a:t>Backend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525" y="2691705"/>
            <a:ext cx="15478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0284C7"/>
                </a:solidFill>
                <a:latin typeface="Space Grotesk"/>
              </a:rPr>
              <a:t>FastAPI</a:t>
            </a:r>
            <a:r>
              <a:rPr sz="1200" b="0" i="0" u="none" dirty="0">
                <a:solidFill>
                  <a:srgbClr val="0284C7"/>
                </a:solidFill>
                <a:latin typeface="Space Grotesk"/>
              </a:rPr>
              <a:t> (Python)</a:t>
            </a:r>
            <a:r>
              <a:rPr lang="en-US" sz="1200" b="0" i="0" u="none" dirty="0">
                <a:solidFill>
                  <a:srgbClr val="0284C7"/>
                </a:solidFill>
                <a:latin typeface="Space Grotesk"/>
              </a:rPr>
              <a:t> </a:t>
            </a:r>
            <a:endParaRPr sz="1200" b="0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625" y="3329880"/>
            <a:ext cx="10382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ML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5676" y="3302198"/>
            <a:ext cx="20193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284C7"/>
                </a:solidFill>
                <a:latin typeface="Space Grotesk"/>
              </a:rPr>
              <a:t>Scikit-learn (Isolation Forest)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968055"/>
            <a:ext cx="13811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Validation &amp;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4325" y="3968055"/>
            <a:ext cx="164306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284C7"/>
                </a:solidFill>
                <a:latin typeface="Space Grotesk"/>
              </a:rPr>
              <a:t>Pydantic &amp;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606230"/>
            <a:ext cx="9620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5687" y="4598669"/>
            <a:ext cx="218122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284C7"/>
                </a:solidFill>
                <a:latin typeface="Space Grotesk"/>
              </a:rPr>
              <a:t>HTML, CSS, JS + </a:t>
            </a:r>
            <a:r>
              <a:rPr sz="1200" b="0" i="0" u="none" dirty="0" err="1">
                <a:solidFill>
                  <a:srgbClr val="0284C7"/>
                </a:solidFill>
                <a:latin typeface="Space Grotesk"/>
              </a:rPr>
              <a:t>WebSockets</a:t>
            </a:r>
            <a:endParaRPr sz="1200" b="0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3544B090-4767-76A5-68DD-F8E8D358AC8F}"/>
              </a:ext>
            </a:extLst>
          </p:cNvPr>
          <p:cNvSpPr/>
          <p:nvPr/>
        </p:nvSpPr>
        <p:spPr>
          <a:xfrm>
            <a:off x="609600" y="5122544"/>
            <a:ext cx="50292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2E90E-B3DD-559C-BE8E-0B35064396F3}"/>
              </a:ext>
            </a:extLst>
          </p:cNvPr>
          <p:cNvSpPr txBox="1"/>
          <p:nvPr/>
        </p:nvSpPr>
        <p:spPr>
          <a:xfrm>
            <a:off x="809625" y="5292148"/>
            <a:ext cx="69532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Space Grotesk"/>
              </a:rPr>
              <a:t>Backend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AC8F3-76AF-A6F1-12CE-311D2059926C}"/>
              </a:ext>
            </a:extLst>
          </p:cNvPr>
          <p:cNvSpPr txBox="1"/>
          <p:nvPr/>
        </p:nvSpPr>
        <p:spPr>
          <a:xfrm>
            <a:off x="4329111" y="5280450"/>
            <a:ext cx="191928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u="none" dirty="0" err="1">
                <a:solidFill>
                  <a:srgbClr val="0284C7"/>
                </a:solidFill>
                <a:latin typeface="Space Grotesk"/>
              </a:rPr>
              <a:t>Vercel</a:t>
            </a:r>
            <a:r>
              <a:rPr lang="en-US" sz="1200" b="0" i="0" u="none" dirty="0">
                <a:solidFill>
                  <a:srgbClr val="0284C7"/>
                </a:solidFill>
                <a:latin typeface="Space Grotesk"/>
              </a:rPr>
              <a:t> Serverless </a:t>
            </a:r>
            <a:endParaRPr sz="1200" b="0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9B5E9880-D84E-607E-1220-ACE7D17A489C}"/>
              </a:ext>
            </a:extLst>
          </p:cNvPr>
          <p:cNvSpPr/>
          <p:nvPr/>
        </p:nvSpPr>
        <p:spPr>
          <a:xfrm>
            <a:off x="609600" y="1847998"/>
            <a:ext cx="50292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878E16-D809-E380-EB77-FD1AD163C582}"/>
              </a:ext>
            </a:extLst>
          </p:cNvPr>
          <p:cNvSpPr txBox="1"/>
          <p:nvPr/>
        </p:nvSpPr>
        <p:spPr>
          <a:xfrm>
            <a:off x="809625" y="2017602"/>
            <a:ext cx="103822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0F172A"/>
                </a:solidFill>
                <a:latin typeface="Space Grotesk"/>
              </a:rPr>
              <a:t>Deployment</a:t>
            </a:r>
            <a:endParaRPr sz="12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BFA01C-3904-8958-B142-72A1830D69D9}"/>
              </a:ext>
            </a:extLst>
          </p:cNvPr>
          <p:cNvSpPr txBox="1"/>
          <p:nvPr/>
        </p:nvSpPr>
        <p:spPr>
          <a:xfrm>
            <a:off x="4741070" y="2042189"/>
            <a:ext cx="15478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u="none" dirty="0" err="1">
                <a:solidFill>
                  <a:srgbClr val="0284C7"/>
                </a:solidFill>
                <a:latin typeface="Space Grotesk"/>
              </a:rPr>
              <a:t>Vercel</a:t>
            </a:r>
            <a:endParaRPr sz="1200" b="0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96ACF64-D697-47C5-F401-6097851CC201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09600" y="4163316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296668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278519"/>
            <a:ext cx="1695271" cy="207749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ctr"/>
            <a:r>
              <a:rPr lang="en-US" sz="1350" b="1" i="0" u="none" dirty="0">
                <a:solidFill>
                  <a:srgbClr val="0F172A"/>
                </a:solidFill>
                <a:latin typeface="Space Grotesk"/>
              </a:rPr>
              <a:t>Incident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611631"/>
            <a:ext cx="3124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0" i="0" u="none" dirty="0">
                <a:solidFill>
                  <a:srgbClr val="334155"/>
                </a:solidFill>
                <a:latin typeface="Space Grotesk"/>
              </a:rPr>
              <a:t>Synthesizes multiple security signals into o</a:t>
            </a:r>
            <a:r>
              <a:rPr lang="en-US" sz="1200" b="0" i="0" u="none" dirty="0">
                <a:solidFill>
                  <a:srgbClr val="64748B"/>
                </a:solidFill>
                <a:latin typeface="Space Grotesk"/>
              </a:rPr>
              <a:t>verall Idea of attack</a:t>
            </a:r>
          </a:p>
          <a:p>
            <a:pPr algn="l"/>
            <a:r>
              <a:rPr lang="en-US" sz="1200" b="0" i="0" u="none" dirty="0">
                <a:solidFill>
                  <a:srgbClr val="334155"/>
                </a:solidFill>
                <a:latin typeface="Space Grotesk"/>
              </a:rPr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5328A4-5299-8C89-DF90-0BE09BE23D9F}"/>
              </a:ext>
            </a:extLst>
          </p:cNvPr>
          <p:cNvGrpSpPr/>
          <p:nvPr/>
        </p:nvGrpSpPr>
        <p:grpSpPr>
          <a:xfrm>
            <a:off x="619125" y="1495418"/>
            <a:ext cx="3505200" cy="1209675"/>
            <a:chOff x="609600" y="3144142"/>
            <a:chExt cx="3505200" cy="1209675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3144142"/>
              <a:ext cx="3505200" cy="1209675"/>
            </a:xfrm>
            <a:prstGeom prst="roundRect">
              <a:avLst>
                <a:gd name="adj" fmla="val 944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47725" y="3382268"/>
              <a:ext cx="3124200" cy="207749"/>
            </a:xfrm>
            <a:prstGeom prst="rect">
              <a:avLst/>
            </a:prstGeom>
            <a:noFill/>
          </p:spPr>
          <p:txBody>
            <a:bodyPr wrap="square" lIns="24765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Space Grotesk"/>
                </a:rPr>
                <a:t>Threat Detection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47725" y="3715642"/>
              <a:ext cx="312420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>
                  <a:solidFill>
                    <a:srgbClr val="475569"/>
                  </a:solidFill>
                  <a:latin typeface="Space Grotesk"/>
                </a:rPr>
                <a:t>Injection, Brute-force, BOLA/IDOR, enumeration, and rate-abuse scanning.</a:t>
              </a:r>
            </a:p>
          </p:txBody>
        </p:sp>
      </p:grp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76398"/>
            <a:ext cx="171450" cy="17145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73B53C8-4451-BA48-6479-7EF0877BA766}"/>
              </a:ext>
            </a:extLst>
          </p:cNvPr>
          <p:cNvGrpSpPr/>
          <p:nvPr/>
        </p:nvGrpSpPr>
        <p:grpSpPr>
          <a:xfrm>
            <a:off x="619125" y="2830718"/>
            <a:ext cx="3505200" cy="1209675"/>
            <a:chOff x="4343400" y="3144142"/>
            <a:chExt cx="3505200" cy="1209675"/>
          </a:xfrm>
        </p:grpSpPr>
        <p:sp>
          <p:nvSpPr>
            <p:cNvPr id="3" name="Rounded Rectangle 2"/>
            <p:cNvSpPr/>
            <p:nvPr/>
          </p:nvSpPr>
          <p:spPr>
            <a:xfrm>
              <a:off x="4343400" y="3144142"/>
              <a:ext cx="3505200" cy="1209675"/>
            </a:xfrm>
            <a:prstGeom prst="roundRect">
              <a:avLst>
                <a:gd name="adj" fmla="val 944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81525" y="3382268"/>
              <a:ext cx="3124200" cy="207749"/>
            </a:xfrm>
            <a:prstGeom prst="rect">
              <a:avLst/>
            </a:prstGeom>
            <a:noFill/>
          </p:spPr>
          <p:txBody>
            <a:bodyPr wrap="square" lIns="24765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Space Grotesk"/>
                </a:rPr>
                <a:t>AI/ML Engine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81525" y="3715642"/>
              <a:ext cx="312420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>
                  <a:solidFill>
                    <a:srgbClr val="475569"/>
                  </a:solidFill>
                  <a:latin typeface="Space Grotesk"/>
                </a:rPr>
                <a:t>Isolation Forest anomaly detection and automated behavioral feature extraction.</a:t>
              </a:r>
            </a:p>
          </p:txBody>
        </p:sp>
      </p:grp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05143"/>
            <a:ext cx="171450" cy="171450"/>
          </a:xfrm>
          <a:prstGeom prst="rect">
            <a:avLst/>
          </a:prstGeom>
        </p:spPr>
      </p:pic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6F30377F-A761-DFE0-2C91-0B1906AB880C}"/>
              </a:ext>
            </a:extLst>
          </p:cNvPr>
          <p:cNvSpPr/>
          <p:nvPr/>
        </p:nvSpPr>
        <p:spPr>
          <a:xfrm>
            <a:off x="609600" y="5476866"/>
            <a:ext cx="3505200" cy="781060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F377247F-AEB5-AC02-8221-AC952E2B0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80" y="5609305"/>
            <a:ext cx="199220" cy="2276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EE1565-561B-F50A-D1B9-FAD541278701}"/>
              </a:ext>
            </a:extLst>
          </p:cNvPr>
          <p:cNvSpPr txBox="1"/>
          <p:nvPr/>
        </p:nvSpPr>
        <p:spPr>
          <a:xfrm>
            <a:off x="1100745" y="5601581"/>
            <a:ext cx="120828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350" b="1" i="0" u="none" dirty="0">
                <a:solidFill>
                  <a:srgbClr val="0F172A"/>
                </a:solidFill>
                <a:latin typeface="Space Grotesk"/>
              </a:rPr>
              <a:t>Human Approval</a:t>
            </a:r>
            <a:endParaRPr sz="135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0F00C-F9C7-7362-19CB-630D34B69A5D}"/>
              </a:ext>
            </a:extLst>
          </p:cNvPr>
          <p:cNvSpPr txBox="1"/>
          <p:nvPr/>
        </p:nvSpPr>
        <p:spPr>
          <a:xfrm>
            <a:off x="596115" y="5914100"/>
            <a:ext cx="22175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6A34A"/>
                </a:solidFill>
                <a:latin typeface="Space Grotesk"/>
              </a:rPr>
              <a:t>ALLOW | BLOCK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FFFB7A-FDFE-FFCD-BEF7-3D4589981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2052623"/>
            <a:ext cx="7562850" cy="3490262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792088A2-4C35-0D9F-8F88-86DFC1A7BE86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3205"/>
            <a:ext cx="257175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263205"/>
            <a:ext cx="257175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263205"/>
            <a:ext cx="2571750" cy="9715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263205"/>
            <a:ext cx="257175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Adaptive Response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0133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Space Grotesk"/>
              </a:rPr>
              <a:t>Normal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96605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pace Grotesk"/>
              </a:rPr>
              <a:t>Low Risk → </a:t>
            </a:r>
            <a:r>
              <a:rPr sz="1200" b="1" i="0" u="none">
                <a:solidFill>
                  <a:srgbClr val="334155"/>
                </a:solidFill>
                <a:latin typeface="Space Grotesk"/>
              </a:rPr>
              <a:t>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075" y="350133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F4444"/>
                </a:solidFill>
                <a:latin typeface="Space Grotesk"/>
              </a:rPr>
              <a:t>Injection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075" y="3796605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pace Grotesk"/>
              </a:rPr>
              <a:t>High Risk → </a:t>
            </a:r>
            <a:r>
              <a:rPr sz="1200" b="1" i="0" u="none">
                <a:solidFill>
                  <a:srgbClr val="334155"/>
                </a:solidFill>
                <a:latin typeface="Space Grotesk"/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401317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Brute 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696592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pace Grotesk"/>
              </a:rPr>
              <a:t>Behavioral Spike → </a:t>
            </a:r>
            <a:r>
              <a:rPr sz="1200" b="1" i="0" u="none">
                <a:solidFill>
                  <a:srgbClr val="334155"/>
                </a:solidFill>
                <a:latin typeface="Space Grotesk"/>
              </a:rPr>
              <a:t>RATE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8775" y="350133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Space Grotesk"/>
              </a:rPr>
              <a:t>API Enumeration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8775" y="3796605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pace Grotesk"/>
              </a:rPr>
              <a:t>Elevated Risk → </a:t>
            </a:r>
            <a:r>
              <a:rPr sz="1200" b="1" i="0" u="none">
                <a:solidFill>
                  <a:srgbClr val="334155"/>
                </a:solidFill>
                <a:latin typeface="Space Grotesk"/>
              </a:rPr>
              <a:t>REVIEW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35B21AD-D183-DDE7-4C11-EA8428339D85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Impact &amp; Future Scope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AF6BA9-86B2-C13F-A623-CF36EEED3609}"/>
              </a:ext>
            </a:extLst>
          </p:cNvPr>
          <p:cNvGrpSpPr/>
          <p:nvPr/>
        </p:nvGrpSpPr>
        <p:grpSpPr>
          <a:xfrm>
            <a:off x="495298" y="1372492"/>
            <a:ext cx="6552009" cy="3581399"/>
            <a:chOff x="609600" y="2819400"/>
            <a:chExt cx="6552009" cy="3581399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2819400"/>
              <a:ext cx="5334000" cy="3581399"/>
            </a:xfrm>
            <a:prstGeom prst="roundRect">
              <a:avLst>
                <a:gd name="adj" fmla="val 215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85825" y="3163192"/>
              <a:ext cx="6275784" cy="2476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0F172A"/>
                  </a:solidFill>
                  <a:latin typeface="Space Grotesk"/>
                </a:rPr>
                <a:t>Current Impact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85825" y="3563242"/>
              <a:ext cx="4876800" cy="268490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sz="1350" b="0" i="0" u="none" dirty="0">
                  <a:solidFill>
                    <a:srgbClr val="334155"/>
                  </a:solidFill>
                  <a:latin typeface="Space Grotesk"/>
                </a:rPr>
                <a:t>Transforms API defense by unifying threat detection, quantitative risk assessment, and adaptive response into a single intelligent gateway.</a:t>
              </a:r>
              <a:endParaRPr lang="en-US" sz="1350" b="0" i="0" u="none" dirty="0">
                <a:solidFill>
                  <a:srgbClr val="334155"/>
                </a:solidFill>
                <a:latin typeface="Space Grotesk"/>
              </a:endParaRPr>
            </a:p>
            <a:p>
              <a:pPr algn="l">
                <a:lnSpc>
                  <a:spcPts val="2025"/>
                </a:lnSpc>
              </a:pPr>
              <a:endParaRPr lang="en-IN" sz="1350" dirty="0">
                <a:solidFill>
                  <a:srgbClr val="334155"/>
                </a:solidFill>
                <a:latin typeface="Space Grotesk"/>
              </a:endParaRPr>
            </a:p>
            <a:p>
              <a:pPr marL="342900" indent="-3429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latin typeface="Space Grotesk"/>
                  <a:ea typeface="Calibri" pitchFamily="34" charset="-122"/>
                  <a:cs typeface="Calibri" pitchFamily="34" charset="-120"/>
                </a:rPr>
                <a:t>Fewer false positives than static rule-based tools — real users stop getting wrongly blocked.</a:t>
              </a:r>
              <a:endParaRPr lang="en-US" sz="1400" dirty="0">
                <a:latin typeface="Space Grotesk"/>
              </a:endParaRPr>
            </a:p>
            <a:p>
              <a:pPr marL="342900" indent="-3429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latin typeface="Space Grotesk"/>
                  <a:ea typeface="Calibri" pitchFamily="34" charset="-122"/>
                  <a:cs typeface="Calibri" pitchFamily="34" charset="-120"/>
                </a:rPr>
                <a:t>Fewer missed threats than manual-only review, at a fraction of the response time.</a:t>
              </a:r>
              <a:endParaRPr lang="en-US" sz="1400" dirty="0">
                <a:latin typeface="Space Grotesk"/>
              </a:endParaRPr>
            </a:p>
            <a:p>
              <a:pPr marL="342900" indent="-3429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latin typeface="Space Grotesk"/>
                  <a:ea typeface="Calibri" pitchFamily="34" charset="-122"/>
                  <a:cs typeface="Calibri" pitchFamily="34" charset="-120"/>
                </a:rPr>
                <a:t>Gives teams without a dedicated SOC a real-time, explainable line of defense for their APIs.</a:t>
              </a:r>
              <a:endParaRPr lang="en-US" sz="1400" dirty="0">
                <a:latin typeface="Space Grotesk"/>
              </a:endParaRPr>
            </a:p>
            <a:p>
              <a:pPr algn="l">
                <a:lnSpc>
                  <a:spcPts val="2025"/>
                </a:lnSpc>
              </a:pPr>
              <a:endParaRPr sz="1350" b="0" i="0" u="none" dirty="0">
                <a:solidFill>
                  <a:srgbClr val="334155"/>
                </a:solidFill>
                <a:latin typeface="Space Grotesk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B6C3A99-4EEB-BB24-3165-43B931AD55F4}"/>
              </a:ext>
            </a:extLst>
          </p:cNvPr>
          <p:cNvGrpSpPr/>
          <p:nvPr/>
        </p:nvGrpSpPr>
        <p:grpSpPr>
          <a:xfrm>
            <a:off x="6248402" y="1348680"/>
            <a:ext cx="5957292" cy="3581399"/>
            <a:chOff x="6248400" y="2819400"/>
            <a:chExt cx="5957292" cy="3581399"/>
          </a:xfrm>
        </p:grpSpPr>
        <p:sp>
          <p:nvSpPr>
            <p:cNvPr id="3" name="Rounded Rectangle 2"/>
            <p:cNvSpPr/>
            <p:nvPr/>
          </p:nvSpPr>
          <p:spPr>
            <a:xfrm>
              <a:off x="6248400" y="2819400"/>
              <a:ext cx="5334000" cy="3581399"/>
            </a:xfrm>
            <a:prstGeom prst="roundRect">
              <a:avLst>
                <a:gd name="adj" fmla="val 215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4625" y="3558480"/>
              <a:ext cx="142875" cy="161925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4625" y="3863280"/>
              <a:ext cx="142875" cy="161925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4625" y="4168080"/>
              <a:ext cx="142875" cy="16192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538317" y="3139380"/>
              <a:ext cx="5667375" cy="2476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0F172A"/>
                  </a:solidFill>
                  <a:latin typeface="Space Grotesk"/>
                </a:rPr>
                <a:t>Future Roadmap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24625" y="3539430"/>
              <a:ext cx="5667375" cy="209550"/>
            </a:xfrm>
            <a:prstGeom prst="rect">
              <a:avLst/>
            </a:prstGeom>
            <a:noFill/>
          </p:spPr>
          <p:txBody>
            <a:bodyPr wrap="none" lIns="238125" tIns="0" rIns="0" bIns="0" anchor="t">
              <a:spAutoFit/>
            </a:bodyPr>
            <a:lstStyle/>
            <a:p>
              <a:pPr algn="l"/>
              <a:r>
                <a:rPr sz="1275" b="0" i="0" u="none">
                  <a:solidFill>
                    <a:srgbClr val="334155"/>
                  </a:solidFill>
                  <a:latin typeface="Space Grotesk"/>
                </a:rPr>
                <a:t>Advanced behavioral profiling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24625" y="3844230"/>
              <a:ext cx="5667375" cy="209550"/>
            </a:xfrm>
            <a:prstGeom prst="rect">
              <a:avLst/>
            </a:prstGeom>
            <a:noFill/>
          </p:spPr>
          <p:txBody>
            <a:bodyPr wrap="none" lIns="238125" tIns="0" rIns="0" bIns="0" anchor="t">
              <a:spAutoFit/>
            </a:bodyPr>
            <a:lstStyle/>
            <a:p>
              <a:pPr algn="l"/>
              <a:r>
                <a:rPr sz="1275" b="0" i="0" u="none">
                  <a:solidFill>
                    <a:srgbClr val="334155"/>
                  </a:solidFill>
                  <a:latin typeface="Space Grotesk"/>
                </a:rPr>
                <a:t>Distributed Redis rate limiting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24625" y="4149030"/>
              <a:ext cx="5667375" cy="209550"/>
            </a:xfrm>
            <a:prstGeom prst="rect">
              <a:avLst/>
            </a:prstGeom>
            <a:noFill/>
          </p:spPr>
          <p:txBody>
            <a:bodyPr wrap="none" lIns="238125" tIns="0" rIns="0" bIns="0" anchor="t">
              <a:spAutoFit/>
            </a:bodyPr>
            <a:lstStyle/>
            <a:p>
              <a:pPr algn="l"/>
              <a:r>
                <a:rPr sz="1275" b="0" i="0" u="none">
                  <a:solidFill>
                    <a:srgbClr val="334155"/>
                  </a:solidFill>
                  <a:latin typeface="Space Grotesk"/>
                </a:rPr>
                <a:t>Automated incident investigation</a:t>
              </a:r>
            </a:p>
          </p:txBody>
        </p:sp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0C57AD4D-8B71-9858-468B-B0E82A88462E}"/>
                </a:ext>
              </a:extLst>
            </p:cNvPr>
            <p:cNvSpPr txBox="1"/>
            <p:nvPr/>
          </p:nvSpPr>
          <p:spPr>
            <a:xfrm>
              <a:off x="6667500" y="4434839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AF4B"/>
                  </a:solidFill>
                  <a:latin typeface="Space Grotesk"/>
                  <a:ea typeface="Arial Black" pitchFamily="34" charset="-122"/>
                  <a:cs typeface="Arial Black" pitchFamily="34" charset="-120"/>
                </a:rPr>
                <a:t>Feasibility</a:t>
              </a:r>
              <a:endParaRPr lang="en-US" sz="1600" dirty="0">
                <a:latin typeface="Space Grotesk"/>
              </a:endParaRPr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BD537644-CB8D-F7C9-28C9-4B9E57F2DD3C}"/>
                </a:ext>
              </a:extLst>
            </p:cNvPr>
            <p:cNvSpPr txBox="1"/>
            <p:nvPr/>
          </p:nvSpPr>
          <p:spPr>
            <a:xfrm>
              <a:off x="6667500" y="4846319"/>
              <a:ext cx="4752975" cy="14631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1200"/>
                </a:spcAft>
                <a:buSzPct val="100000"/>
                <a:buChar char="•"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Facie engine and live dashboard already built and deployed at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  <a:hlinkClick r:id="rId3"/>
                </a:rPr>
                <a:t>https://faciesentinel-fx6x.vercel.app/</a:t>
              </a:r>
              <a:endPara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spcAft>
                  <a:spcPts val="1200"/>
                </a:spcAft>
                <a:buSzPct val="100000"/>
                <a:buChar char="•"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Sits in front of existing APIs as a lightweight layer — no exotic infrastructure required to adopt.</a:t>
              </a:r>
              <a:endParaRPr lang="en-US" sz="1600" dirty="0"/>
            </a:p>
          </p:txBody>
        </p:sp>
      </p:grpSp>
      <p:sp>
        <p:nvSpPr>
          <p:cNvPr id="18" name="Text 1">
            <a:extLst>
              <a:ext uri="{FF2B5EF4-FFF2-40B4-BE49-F238E27FC236}">
                <a16:creationId xmlns:a16="http://schemas.microsoft.com/office/drawing/2014/main" id="{A86851B1-9444-D891-A07B-92E3AB7F4B1C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FACIE_SENTINEL • CYBERSECURITY TRACK 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15059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647700" y="1374237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94A3B8"/>
                </a:solidFill>
                <a:latin typeface="Space Grotesk"/>
              </a:rPr>
              <a:t>FACIE Sentinel — Adaptive, risk-aware API security for modern architectures.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91B9A3AC-2361-03F2-0C3A-F0330E5BB548}"/>
              </a:ext>
            </a:extLst>
          </p:cNvPr>
          <p:cNvSpPr txBox="1"/>
          <p:nvPr/>
        </p:nvSpPr>
        <p:spPr>
          <a:xfrm>
            <a:off x="838200" y="424213"/>
            <a:ext cx="10382250" cy="7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&amp; REPOSITORY LINKS</a:t>
            </a:r>
            <a:endParaRPr lang="en-US" sz="30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DB96004-C162-6213-33DE-F32F557DC1EB}"/>
              </a:ext>
            </a:extLst>
          </p:cNvPr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kern="0" spc="1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FACIE_SENTINEL </a:t>
            </a: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CYBERSECURITY TRACK </a:t>
            </a:r>
            <a:endParaRPr lang="en-US" sz="9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38A543A-EF8C-CD8F-8106-6B3E0DBA0DB1}"/>
              </a:ext>
            </a:extLst>
          </p:cNvPr>
          <p:cNvSpPr txBox="1"/>
          <p:nvPr/>
        </p:nvSpPr>
        <p:spPr>
          <a:xfrm>
            <a:off x="817245" y="2404872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 — API Security Market Size, Share &amp; Industry Report (2026).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Link —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https://faciesentinel-fx6x.vercel.app/</a:t>
            </a:r>
            <a:endParaRPr lang="en-US" sz="2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Link -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https://github.com/ShivKum06/FACIE_SENTINEL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559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Space Grotesk</vt:lpstr>
      <vt:lpstr>Arial Black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DUKS Gaming</cp:lastModifiedBy>
  <cp:revision>2</cp:revision>
  <dcterms:created xsi:type="dcterms:W3CDTF">2013-01-27T09:14:16Z</dcterms:created>
  <dcterms:modified xsi:type="dcterms:W3CDTF">2026-09-19T13:33:30Z</dcterms:modified>
  <cp:category/>
</cp:coreProperties>
</file>